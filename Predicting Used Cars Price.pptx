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9" r:id="rId8"/>
    <p:sldId id="261" r:id="rId9"/>
    <p:sldId id="262" r:id="rId10"/>
    <p:sldId id="263" r:id="rId11"/>
    <p:sldId id="272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35006"/>
            <a:ext cx="11161059" cy="319619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Spinnaker Analytics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i="1" dirty="0"/>
            </a:br>
            <a:r>
              <a:rPr lang="en-US" sz="3600" i="1" dirty="0"/>
              <a:t> 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Predicting Used Car Prices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                                                                                               </a:t>
            </a:r>
            <a:r>
              <a:rPr lang="en-IN" b="1" dirty="0">
                <a:solidFill>
                  <a:schemeClr val="tx1"/>
                </a:solidFill>
              </a:rPr>
              <a:t>Aman Shaikh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                                                                                                   May 2026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1" y="1979628"/>
            <a:ext cx="11095349" cy="3902697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Introduction </a:t>
            </a:r>
            <a:endParaRPr lang="en-US" sz="2400" dirty="0"/>
          </a:p>
          <a:p>
            <a:r>
              <a:rPr lang="en-US" sz="2400" dirty="0"/>
              <a:t>Project Objective</a:t>
            </a:r>
            <a:endParaRPr lang="en-US" sz="2400" dirty="0"/>
          </a:p>
          <a:p>
            <a:r>
              <a:rPr lang="en-US" sz="2400" dirty="0"/>
              <a:t>Overview of Dataset</a:t>
            </a:r>
            <a:endParaRPr lang="en-US" sz="2400" dirty="0"/>
          </a:p>
          <a:p>
            <a:r>
              <a:rPr lang="en-US" sz="2400" dirty="0"/>
              <a:t>Exploratory Data Analysis(EDA)</a:t>
            </a:r>
            <a:endParaRPr lang="en-US" sz="2400" dirty="0"/>
          </a:p>
          <a:p>
            <a:r>
              <a:rPr lang="en-US" sz="2400" dirty="0"/>
              <a:t>Data Preprocessing</a:t>
            </a:r>
            <a:endParaRPr lang="en-US" sz="2400" dirty="0"/>
          </a:p>
          <a:p>
            <a:r>
              <a:rPr lang="en-US" sz="2400" dirty="0"/>
              <a:t>Machine Learning Workflow</a:t>
            </a:r>
            <a:endParaRPr lang="en-US" sz="2400" dirty="0"/>
          </a:p>
          <a:p>
            <a:r>
              <a:rPr lang="en-US" sz="2400" dirty="0"/>
              <a:t>Algorithms Used</a:t>
            </a:r>
            <a:endParaRPr lang="en-US" sz="2400" dirty="0"/>
          </a:p>
          <a:p>
            <a:r>
              <a:rPr lang="en-US" sz="2400" dirty="0"/>
              <a:t>Model Evaluation Metrics</a:t>
            </a:r>
            <a:endParaRPr lang="en-US" sz="2400" dirty="0"/>
          </a:p>
          <a:p>
            <a:r>
              <a:rPr lang="en-US" sz="2400" dirty="0"/>
              <a:t>Model Selection(Final)</a:t>
            </a:r>
            <a:endParaRPr lang="en-US" sz="2400" dirty="0"/>
          </a:p>
          <a:p>
            <a:r>
              <a:rPr lang="en-US" sz="2600" dirty="0"/>
              <a:t>Conclusion</a:t>
            </a:r>
            <a:endParaRPr lang="en-US" sz="26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275" y="1677670"/>
            <a:ext cx="9721215" cy="4570730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dirty="0"/>
              <a:t>The dataset contains information about used cars, including features such as brand, model year, fuel type, transmission type, kilometers driven, and price.</a:t>
            </a:r>
            <a:endParaRPr lang="en-US" altLang="en-US" sz="2000" dirty="0"/>
          </a:p>
          <a:p>
            <a:pPr algn="just"/>
            <a:r>
              <a:rPr lang="en-US" altLang="en-US" sz="2000" dirty="0"/>
              <a:t>Used car prices are influenced by multiple factors such as car age, mileage, fuel type, vehicle condition, and brand value.</a:t>
            </a:r>
            <a:endParaRPr lang="en-US" altLang="en-US" sz="2000" dirty="0"/>
          </a:p>
          <a:p>
            <a:pPr algn="just"/>
            <a:r>
              <a:rPr lang="en-US" altLang="en-US" sz="2000" dirty="0"/>
              <a:t>The project aims to analyze these factors and understand their impact on resale prices through data analysis and visualization.</a:t>
            </a:r>
            <a:endParaRPr lang="en-US" altLang="en-US" sz="2000" dirty="0"/>
          </a:p>
          <a:p>
            <a:pPr algn="just"/>
            <a:r>
              <a:rPr lang="en-US" altLang="en-US" sz="2000" dirty="0"/>
              <a:t>Machine learning techniques are applied to identify patterns in the data and accurately predict used car prices.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This project helps demonstrate how data-driven approaches can support pricing decisions in the automobile market.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algn="just"/>
            <a:r>
              <a:rPr lang="en-US" altLang="en-US" sz="2400" dirty="0"/>
              <a:t>To develop a machine learning model capable of predicting used car prices based on vehicle attributes.</a:t>
            </a:r>
            <a:endParaRPr lang="en-US" altLang="en-US" sz="2400" dirty="0"/>
          </a:p>
          <a:p>
            <a:pPr algn="just"/>
            <a:r>
              <a:rPr lang="en-US" altLang="en-US" sz="2400" dirty="0"/>
              <a:t>To analyze how different factors such as mileage, car age, fuel type, and transmission affect resale value.</a:t>
            </a:r>
            <a:endParaRPr lang="en-US" altLang="en-US" sz="2400" dirty="0"/>
          </a:p>
          <a:p>
            <a:pPr algn="just"/>
            <a:r>
              <a:rPr lang="en-US" altLang="en-US" sz="2400" dirty="0"/>
              <a:t>To perform data preprocessing, feature engineering, and exploratory data analysis for better understanding of the dataset.</a:t>
            </a:r>
            <a:endParaRPr lang="en-US" altLang="en-US" sz="2400" dirty="0"/>
          </a:p>
          <a:p>
            <a:pPr algn="just"/>
            <a:r>
              <a:rPr lang="en-US" altLang="en-US" sz="2400" dirty="0"/>
              <a:t>To train and compare multiple regression models for accurate price prediction.</a:t>
            </a:r>
            <a:endParaRPr lang="en-US" altLang="en-US" sz="2400" dirty="0"/>
          </a:p>
          <a:p>
            <a:pPr algn="just"/>
            <a:r>
              <a:rPr lang="en-US" altLang="en-US" sz="2400" dirty="0"/>
              <a:t>To evaluate model performance using metrics such as MSE, MAE, and R² Score.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Dataset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99622" y="1555423"/>
            <a:ext cx="11444140" cy="4930218"/>
          </a:xfrm>
        </p:spPr>
        <p:txBody>
          <a:bodyPr>
            <a:normAutofit/>
          </a:bodyPr>
          <a:lstStyle/>
          <a:p>
            <a:pPr algn="just"/>
            <a:r>
              <a:rPr lang="en-US" altLang="en-US" sz="2000" dirty="0"/>
              <a:t>The dataset consists of used car records containing both numerical and categorical features related to vehicle specifications and pricing.</a:t>
            </a:r>
            <a:endParaRPr lang="en-US" altLang="en-US" sz="2000" dirty="0"/>
          </a:p>
          <a:p>
            <a:pPr algn="just"/>
            <a:r>
              <a:rPr lang="en-US" altLang="en-US" sz="2000" dirty="0"/>
              <a:t>Key attributes in the dataset include company name, model year, fuel type, transmission type, kilometers driven, and vehicle price.</a:t>
            </a:r>
            <a:endParaRPr lang="en-US" altLang="en-US" sz="2000" dirty="0"/>
          </a:p>
          <a:p>
            <a:pPr algn="just"/>
            <a:r>
              <a:rPr lang="en-US" altLang="en-US" sz="2000" dirty="0"/>
              <a:t>The dataset contains real-world information that helps analyze the relationship between vehicle characteristics and resale value.</a:t>
            </a:r>
            <a:endParaRPr lang="en-US" altLang="en-US" sz="2000" dirty="0"/>
          </a:p>
          <a:p>
            <a:pPr algn="just"/>
            <a:r>
              <a:rPr lang="en-US" altLang="en-US" sz="2000" dirty="0"/>
              <a:t>Data preprocessing techniques were applied to handle missing values, convert data types, and prepare the dataset for machine learning.</a:t>
            </a:r>
            <a:endParaRPr lang="en-US" altLang="en-US" sz="2000" dirty="0"/>
          </a:p>
          <a:p>
            <a:pPr algn="just"/>
            <a:r>
              <a:rPr lang="en-US" altLang="en-US" sz="2000" dirty="0"/>
              <a:t>Feature engineering was performed by creating new variables such as CarAge to improve prediction accuracy and model performance.</a:t>
            </a:r>
            <a:r>
              <a:rPr lang="en-IN" altLang="en-US" sz="2000" dirty="0"/>
              <a:t>   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/>
              <a:t>Relationship Between Vehicle Features and Used Car Prices</a:t>
            </a:r>
            <a:endParaRPr lang="en-US" altLang="en-US" sz="3200"/>
          </a:p>
        </p:txBody>
      </p:sp>
      <p:pic>
        <p:nvPicPr>
          <p:cNvPr id="4" name="Content Placeholder 3" descr="correlation heatmap used car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34895" y="1965960"/>
            <a:ext cx="8052435" cy="4288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40" y="1404620"/>
            <a:ext cx="10816590" cy="5278755"/>
          </a:xfrm>
        </p:spPr>
        <p:txBody>
          <a:bodyPr>
            <a:normAutofit lnSpcReduction="20000"/>
          </a:bodyPr>
          <a:lstStyle/>
          <a:p>
            <a:r>
              <a:rPr lang="en-US" altLang="en-US" sz="2400" dirty="0"/>
              <a:t>Objectives of EDA:</a:t>
            </a:r>
            <a:endParaRPr lang="en-US" altLang="en-US" sz="2400" dirty="0"/>
          </a:p>
          <a:p>
            <a:pPr marL="0" indent="0">
              <a:buNone/>
            </a:pPr>
            <a:r>
              <a:rPr lang="en-IN" altLang="en-US" sz="2400" dirty="0"/>
              <a:t>    -</a:t>
            </a:r>
            <a:r>
              <a:rPr lang="en-US" altLang="en-US" sz="2400" dirty="0"/>
              <a:t>Understand used car price distribution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 </a:t>
            </a:r>
            <a:r>
              <a:rPr lang="en-IN" altLang="en-US" sz="2400" dirty="0"/>
              <a:t>   -</a:t>
            </a:r>
            <a:r>
              <a:rPr lang="en-US" altLang="en-US" sz="2400" dirty="0"/>
              <a:t>Identify outliers and data patterns</a:t>
            </a:r>
            <a:endParaRPr lang="en-US" altLang="en-US" sz="2400" dirty="0"/>
          </a:p>
          <a:p>
            <a:pPr marL="0" indent="0">
              <a:buNone/>
            </a:pPr>
            <a:r>
              <a:rPr lang="en-IN" altLang="en-US" sz="2400" dirty="0"/>
              <a:t>    -</a:t>
            </a:r>
            <a:r>
              <a:rPr lang="en-US" altLang="en-US" sz="2400" dirty="0"/>
              <a:t>Analyze the impact of vehicle features on price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 </a:t>
            </a:r>
            <a:r>
              <a:rPr lang="en-IN" altLang="en-US" sz="2400" dirty="0"/>
              <a:t>   -</a:t>
            </a:r>
            <a:r>
              <a:rPr lang="en-US" altLang="en-US" sz="2400" dirty="0"/>
              <a:t>Examine correlations between features and car price</a:t>
            </a:r>
            <a:endParaRPr lang="en-US" altLang="en-US" sz="2400" dirty="0"/>
          </a:p>
          <a:p>
            <a:pPr marL="0" indent="0">
              <a:buNone/>
            </a:pPr>
            <a:endParaRPr lang="en-IN" sz="2400" dirty="0"/>
          </a:p>
          <a:p>
            <a:pPr>
              <a:buFont typeface="Wingdings" panose="05000000000000000000" charset="0"/>
              <a:buChar char="§"/>
            </a:pPr>
            <a:r>
              <a:rPr lang="en-IN" sz="2400" dirty="0"/>
              <a:t>Insights Gained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IN" altLang="en-US" sz="2400" dirty="0"/>
              <a:t>-</a:t>
            </a:r>
            <a:r>
              <a:rPr lang="en-US" altLang="en-US" sz="2400" dirty="0"/>
              <a:t>Older and high-mileage cars have lower prices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400" dirty="0"/>
              <a:t>    -</a:t>
            </a:r>
            <a:r>
              <a:rPr lang="en-US" altLang="en-US" sz="2400" dirty="0"/>
              <a:t>Automatic and premium cars tend to cost more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400" dirty="0"/>
              <a:t>    -</a:t>
            </a:r>
            <a:r>
              <a:rPr lang="en-US" altLang="en-US" sz="2400" dirty="0"/>
              <a:t>Price distribution is right-skewed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400" dirty="0"/>
              <a:t>    -</a:t>
            </a:r>
            <a:r>
              <a:rPr lang="en-US" altLang="en-US" sz="2400" dirty="0"/>
              <a:t>CarAge and Kilometer strongly affect resale price</a:t>
            </a:r>
            <a:endParaRPr lang="en-US" altLang="en-US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275" y="1240155"/>
            <a:ext cx="9685020" cy="5427345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Steps Performed:</a:t>
            </a:r>
            <a:endParaRPr lang="en-IN" sz="2400" dirty="0"/>
          </a:p>
          <a:p>
            <a:pPr marL="0" indent="0" algn="just">
              <a:buNone/>
            </a:pPr>
            <a:r>
              <a:rPr lang="en-IN" altLang="en-US" sz="2400" dirty="0"/>
              <a:t>-</a:t>
            </a:r>
            <a:r>
              <a:rPr lang="en-US" altLang="en-US" sz="2400" dirty="0"/>
              <a:t>Handled missing values using appropriate imputation </a:t>
            </a:r>
            <a:r>
              <a:rPr lang="en-IN" altLang="en-US" sz="2400" dirty="0"/>
              <a:t>      </a:t>
            </a:r>
            <a:r>
              <a:rPr lang="en-US" altLang="en-US" sz="2400" dirty="0"/>
              <a:t>techniques</a:t>
            </a:r>
            <a:endParaRPr lang="en-US" altLang="en-US" sz="2400" dirty="0"/>
          </a:p>
          <a:p>
            <a:pPr marL="0" indent="0" algn="just">
              <a:buNone/>
            </a:pPr>
            <a:r>
              <a:rPr lang="en-IN" altLang="en-US" sz="2400" dirty="0"/>
              <a:t>-</a:t>
            </a:r>
            <a:r>
              <a:rPr lang="en-US" altLang="en-US" sz="2400" dirty="0"/>
              <a:t>Converted the Price column into a consistent numeric format for accurate analysis</a:t>
            </a:r>
            <a:endParaRPr lang="en-US" altLang="en-US" sz="2400" dirty="0"/>
          </a:p>
          <a:p>
            <a:pPr marL="0" indent="0" algn="just">
              <a:buNone/>
            </a:pPr>
            <a:r>
              <a:rPr lang="en-IN" altLang="en-US" sz="2400" dirty="0"/>
              <a:t>-</a:t>
            </a:r>
            <a:r>
              <a:rPr lang="en-US" altLang="en-US" sz="2400" dirty="0"/>
              <a:t>Encoded categorical features using One-Hot Encoding</a:t>
            </a:r>
            <a:endParaRPr lang="en-US" altLang="en-US" sz="2400" dirty="0"/>
          </a:p>
          <a:p>
            <a:pPr marL="0" indent="0" algn="just">
              <a:buNone/>
            </a:pPr>
            <a:r>
              <a:rPr lang="en-IN" altLang="en-US" sz="2400" dirty="0"/>
              <a:t>-</a:t>
            </a:r>
            <a:r>
              <a:rPr lang="en-US" altLang="en-US" sz="2400" dirty="0"/>
              <a:t>Applied feature scaling to normalize numerical variables</a:t>
            </a:r>
            <a:endParaRPr lang="en-US" altLang="en-US" sz="2400" dirty="0"/>
          </a:p>
          <a:p>
            <a:pPr marL="0" indent="0" algn="just">
              <a:buNone/>
            </a:pPr>
            <a:r>
              <a:rPr lang="en-IN" altLang="en-US" sz="2400" dirty="0"/>
              <a:t>-</a:t>
            </a:r>
            <a:r>
              <a:rPr lang="en-US" altLang="en-US" sz="2400" dirty="0"/>
              <a:t>Removed outliers and prepared clean data for machine learning model training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</p:txBody>
      </p:sp>
      <p:pic>
        <p:nvPicPr>
          <p:cNvPr id="4" name="Picture 3" descr="data preprocessing steps"/>
          <p:cNvPicPr>
            <a:picLocks noChangeAspect="1"/>
          </p:cNvPicPr>
          <p:nvPr/>
        </p:nvPicPr>
        <p:blipFill>
          <a:blip r:embed="rId1"/>
          <a:srcRect l="5979" t="43219" r="7521" b="22519"/>
          <a:stretch>
            <a:fillRect/>
          </a:stretch>
        </p:blipFill>
        <p:spPr>
          <a:xfrm>
            <a:off x="3407410" y="4923155"/>
            <a:ext cx="7909560" cy="1639570"/>
          </a:xfrm>
          <a:prstGeom prst="round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Workflow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Project Workflow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2949011" y="2888137"/>
            <a:ext cx="1715678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Problem</a:t>
            </a:r>
            <a:endParaRPr lang="en-IN" dirty="0"/>
          </a:p>
          <a:p>
            <a:pPr algn="ctr"/>
            <a:r>
              <a:rPr lang="en-IN" dirty="0"/>
              <a:t>Statement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511135" y="2888137"/>
            <a:ext cx="1715677" cy="94268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collection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9072938" y="4466341"/>
            <a:ext cx="1960776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8433057" y="2768900"/>
            <a:ext cx="1715678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EDA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6170219" y="4477732"/>
            <a:ext cx="1753385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Model</a:t>
            </a:r>
            <a:endParaRPr lang="en-IN" dirty="0"/>
          </a:p>
          <a:p>
            <a:pPr algn="ctr"/>
            <a:r>
              <a:rPr lang="en-IN" dirty="0"/>
              <a:t>Selection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3324297" y="4477732"/>
            <a:ext cx="1753385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Model Training &amp; Evaluation</a:t>
            </a:r>
            <a:endParaRPr lang="en-IN" dirty="0"/>
          </a:p>
        </p:txBody>
      </p:sp>
      <p:sp>
        <p:nvSpPr>
          <p:cNvPr id="14" name="Arrow: Right 13"/>
          <p:cNvSpPr/>
          <p:nvPr/>
        </p:nvSpPr>
        <p:spPr>
          <a:xfrm>
            <a:off x="4873658" y="3271101"/>
            <a:ext cx="537328" cy="23567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/>
          <p:cNvSpPr/>
          <p:nvPr/>
        </p:nvSpPr>
        <p:spPr>
          <a:xfrm>
            <a:off x="7540268" y="3174869"/>
            <a:ext cx="532990" cy="2615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/>
          <p:cNvSpPr/>
          <p:nvPr/>
        </p:nvSpPr>
        <p:spPr>
          <a:xfrm>
            <a:off x="9280870" y="3825992"/>
            <a:ext cx="235670" cy="44306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/>
          <p:cNvSpPr/>
          <p:nvPr/>
        </p:nvSpPr>
        <p:spPr>
          <a:xfrm>
            <a:off x="8262601" y="4854804"/>
            <a:ext cx="504327" cy="273377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 17"/>
          <p:cNvSpPr/>
          <p:nvPr/>
        </p:nvSpPr>
        <p:spPr>
          <a:xfrm>
            <a:off x="5410986" y="4854804"/>
            <a:ext cx="537328" cy="273377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Algorithm Used</a:t>
            </a:r>
            <a:endParaRPr lang="en-IN" alt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pPr algn="just"/>
            <a:r>
              <a:rPr lang="en-IN" altLang="en-US" sz="2400" b="1">
                <a:sym typeface="+mn-ea"/>
              </a:rPr>
              <a:t>Linear Regression: </a:t>
            </a:r>
            <a:r>
              <a:rPr lang="en-US" altLang="en-US" sz="2400"/>
              <a:t>Used as a baseline model to predict car prices by identifying linear relationships between features and the target variable.</a:t>
            </a:r>
            <a:endParaRPr lang="en-US" altLang="en-US" sz="2400"/>
          </a:p>
          <a:p>
            <a:pPr algn="just"/>
            <a:r>
              <a:rPr lang="en-US" altLang="en-US" sz="2400" b="1"/>
              <a:t>Decision Tree Regressor</a:t>
            </a:r>
            <a:r>
              <a:rPr lang="en-IN" altLang="en-US" sz="2400"/>
              <a:t>: </a:t>
            </a:r>
            <a:r>
              <a:rPr lang="en-US" altLang="en-US" sz="2400"/>
              <a:t>Used to capture nonlinear patterns and feature interactions within the dataset.</a:t>
            </a:r>
            <a:endParaRPr lang="en-US" altLang="en-US" sz="2400"/>
          </a:p>
          <a:p>
            <a:pPr algn="just"/>
            <a:r>
              <a:rPr lang="en-US" altLang="en-US" sz="2400" b="1"/>
              <a:t>Random Forest Regressor</a:t>
            </a:r>
            <a:r>
              <a:rPr lang="en-IN" altLang="en-US" sz="2400"/>
              <a:t>: </a:t>
            </a:r>
            <a:r>
              <a:rPr lang="en-US" altLang="en-US" sz="2400"/>
              <a:t>Used to improve prediction accuracy and reduce overfitting by combining multiple decision trees.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843" y="1905000"/>
            <a:ext cx="10160769" cy="4328890"/>
          </a:xfrm>
        </p:spPr>
        <p:txBody>
          <a:bodyPr/>
          <a:lstStyle/>
          <a:p>
            <a:r>
              <a:rPr lang="en-US" altLang="en-US" sz="2000" dirty="0">
                <a:cs typeface="+mn-lt"/>
              </a:rPr>
              <a:t>The following regression metrics were used:</a:t>
            </a:r>
            <a:br>
              <a:rPr lang="en-US" altLang="en-US" sz="2000" dirty="0">
                <a:cs typeface="+mn-lt"/>
              </a:rPr>
            </a:br>
            <a:r>
              <a:rPr lang="en-IN" altLang="en-US" sz="2000" dirty="0">
                <a:cs typeface="+mn-lt"/>
              </a:rPr>
              <a:t>-</a:t>
            </a:r>
            <a:r>
              <a:rPr lang="en-US" altLang="en-US" sz="2000" dirty="0">
                <a:cs typeface="+mn-lt"/>
              </a:rPr>
              <a:t>MAE (Mean Absolute Error) – Measures the average difference between </a:t>
            </a:r>
            <a:r>
              <a:rPr lang="en-IN" altLang="en-US" sz="2000" dirty="0">
                <a:cs typeface="+mn-lt"/>
              </a:rPr>
              <a:t>    </a:t>
            </a:r>
            <a:r>
              <a:rPr lang="en-US" altLang="en-US" sz="2000" dirty="0">
                <a:cs typeface="+mn-lt"/>
              </a:rPr>
              <a:t>actual and predicted car prices</a:t>
            </a:r>
            <a:br>
              <a:rPr lang="en-US" altLang="en-US" sz="2000" dirty="0">
                <a:cs typeface="+mn-lt"/>
              </a:rPr>
            </a:br>
            <a:r>
              <a:rPr lang="en-IN" altLang="en-US" sz="2000" dirty="0">
                <a:cs typeface="+mn-lt"/>
              </a:rPr>
              <a:t>-</a:t>
            </a:r>
            <a:r>
              <a:rPr lang="en-US" altLang="en-US" sz="2000" dirty="0">
                <a:cs typeface="+mn-lt"/>
              </a:rPr>
              <a:t>MSE (Mean Squared Error) – Penalizes larger prediction errors for better </a:t>
            </a:r>
            <a:r>
              <a:rPr lang="en-IN" altLang="en-US" sz="2000" dirty="0">
                <a:cs typeface="+mn-lt"/>
              </a:rPr>
              <a:t> </a:t>
            </a:r>
            <a:r>
              <a:rPr lang="en-US" altLang="en-US" sz="2000" dirty="0">
                <a:cs typeface="+mn-lt"/>
              </a:rPr>
              <a:t>accuracy evaluation</a:t>
            </a:r>
            <a:br>
              <a:rPr lang="en-US" altLang="en-US" sz="2000" dirty="0">
                <a:cs typeface="+mn-lt"/>
              </a:rPr>
            </a:br>
            <a:r>
              <a:rPr lang="en-US" altLang="en-US" sz="2000" dirty="0">
                <a:cs typeface="+mn-lt"/>
              </a:rPr>
              <a:t> </a:t>
            </a:r>
            <a:r>
              <a:rPr lang="en-IN" altLang="en-US" sz="2000" dirty="0">
                <a:cs typeface="+mn-lt"/>
              </a:rPr>
              <a:t>-</a:t>
            </a:r>
            <a:r>
              <a:rPr lang="en-US" altLang="en-US" sz="2000" dirty="0">
                <a:cs typeface="+mn-lt"/>
              </a:rPr>
              <a:t>R² Score – Indicates how well the model explains variations in used car prices</a:t>
            </a:r>
            <a:br>
              <a:rPr lang="en-US" altLang="en-US" sz="2000" dirty="0">
                <a:cs typeface="+mn-lt"/>
              </a:rPr>
            </a:br>
            <a:r>
              <a:rPr lang="en-US" altLang="en-US" sz="2000" dirty="0">
                <a:cs typeface="+mn-lt"/>
              </a:rPr>
              <a:t> </a:t>
            </a:r>
            <a:r>
              <a:rPr lang="en-IN" altLang="en-US" sz="2000" dirty="0">
                <a:cs typeface="+mn-lt"/>
              </a:rPr>
              <a:t>-</a:t>
            </a:r>
            <a:r>
              <a:rPr lang="en-US" altLang="en-US" dirty="0"/>
              <a:t>Residual Analysis – Helps evaluate prediction accuracy and identify model errors</a:t>
            </a:r>
            <a:br>
              <a:rPr lang="en-US" altLang="en-US" dirty="0"/>
            </a:br>
            <a:endParaRPr lang="en-US" altLang="en-US" dirty="0"/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Metrics</a:t>
            </a:r>
            <a:endParaRPr lang="en-IN" dirty="0"/>
          </a:p>
        </p:txBody>
      </p:sp>
      <p:pic>
        <p:nvPicPr>
          <p:cNvPr id="5" name="Picture 4" descr="used cars model compa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915" y="4417695"/>
            <a:ext cx="9079865" cy="160718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080" y="4784725"/>
            <a:ext cx="3491230" cy="10134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Selection(final)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996" y="1498862"/>
            <a:ext cx="9958616" cy="4735028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Multiple regression models were trained and compared to identify the most effective model for used car price prediction.</a:t>
            </a:r>
            <a:endParaRPr lang="en-US" altLang="en-US" sz="2000" dirty="0"/>
          </a:p>
          <a:p>
            <a:r>
              <a:rPr lang="en-US" altLang="en-US" sz="2000" dirty="0"/>
              <a:t>Performance comparison was based on evaluation metrics such as MAE, MSE, and R² Score.</a:t>
            </a:r>
            <a:endParaRPr lang="en-US" altLang="en-US" sz="2000" dirty="0"/>
          </a:p>
          <a:p>
            <a:r>
              <a:rPr lang="en-US" altLang="en-US" sz="2000" dirty="0"/>
              <a:t>The Random Forest Regressor achieved the best performance with the highest prediction accuracy and better generalization capability.</a:t>
            </a:r>
            <a:endParaRPr lang="en-US" altLang="en-US" sz="2000" dirty="0"/>
          </a:p>
          <a:p>
            <a:r>
              <a:rPr lang="en-US" altLang="en-US" sz="2000" dirty="0"/>
              <a:t>Therefore, Random Forest was selected as the final model for predicting used car prices.</a:t>
            </a:r>
            <a:br>
              <a:rPr lang="en-US" sz="2000" dirty="0"/>
            </a:br>
            <a:endParaRPr 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4532" y="1470581"/>
            <a:ext cx="9770080" cy="4440641"/>
          </a:xfrm>
        </p:spPr>
        <p:txBody>
          <a:bodyPr/>
          <a:lstStyle/>
          <a:p>
            <a:pPr algn="just"/>
            <a:r>
              <a:rPr lang="en-US" altLang="en-US" dirty="0"/>
              <a:t>Successfully developed a machine learning model for predicting used car prices using vehicle-related features.</a:t>
            </a:r>
            <a:endParaRPr lang="en-US" altLang="en-US" dirty="0"/>
          </a:p>
          <a:p>
            <a:pPr algn="just"/>
            <a:r>
              <a:rPr lang="en-US" altLang="en-US" dirty="0"/>
              <a:t>Performed data preprocessing, exploratory data analysis, and feature engineering to improve model performance.</a:t>
            </a:r>
            <a:endParaRPr lang="en-US" altLang="en-US" dirty="0"/>
          </a:p>
          <a:p>
            <a:pPr algn="just"/>
            <a:r>
              <a:rPr lang="en-US" altLang="en-US" dirty="0"/>
              <a:t>Compared multiple regression algorithms including Linear Regression, Decision Tree, and Random Forest.</a:t>
            </a:r>
            <a:endParaRPr lang="en-US" altLang="en-US" dirty="0"/>
          </a:p>
          <a:p>
            <a:pPr algn="just"/>
            <a:r>
              <a:rPr lang="en-US" altLang="en-US" dirty="0"/>
              <a:t>Random Forest Regressor achieved the best performance with the highest prediction accuracy.</a:t>
            </a:r>
            <a:endParaRPr lang="en-US" altLang="en-US" dirty="0"/>
          </a:p>
          <a:p>
            <a:pPr algn="just"/>
            <a:r>
              <a:rPr lang="en-US" altLang="en-US" dirty="0"/>
              <a:t>The project demonstrates the practical application of machine learning techniques in real-world price prediction problems.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000" dirty="0"/>
          </a:p>
          <a:p>
            <a:pPr marL="0" indent="0" algn="ctr">
              <a:buNone/>
            </a:pPr>
            <a:r>
              <a:rPr lang="en-IN" sz="4800" dirty="0"/>
              <a:t>Thank You!</a:t>
            </a:r>
            <a:endParaRPr lang="en-IN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0</TotalTime>
  <Words>5125</Words>
  <Application>WPS Presentation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Wingdings 3</vt:lpstr>
      <vt:lpstr>Arial</vt:lpstr>
      <vt:lpstr>Wingdings</vt:lpstr>
      <vt:lpstr>Century Gothic</vt:lpstr>
      <vt:lpstr>Microsoft YaHei</vt:lpstr>
      <vt:lpstr>Arial Unicode MS</vt:lpstr>
      <vt:lpstr>Calibri</vt:lpstr>
      <vt:lpstr>Wisp</vt:lpstr>
      <vt:lpstr>Spinnaker Analytics    Topic: Predicting Used Car Prices</vt:lpstr>
      <vt:lpstr>Agenda</vt:lpstr>
      <vt:lpstr>Introduction</vt:lpstr>
      <vt:lpstr>Project Objectives</vt:lpstr>
      <vt:lpstr>Overview of Dataset</vt:lpstr>
      <vt:lpstr>Relationship Between Vehicle Features and Used Car Prices</vt:lpstr>
      <vt:lpstr>Exploratory Data Analysis (EDA)</vt:lpstr>
      <vt:lpstr>Data Preprocessing</vt:lpstr>
      <vt:lpstr>Machine Learning Workflow</vt:lpstr>
      <vt:lpstr>Algorithm Used</vt:lpstr>
      <vt:lpstr>Model Evaluation Metrics</vt:lpstr>
      <vt:lpstr>Model Selection(final)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Hotel Reservation Cancellations Using Machine Learning</dc:title>
  <dc:creator>Aman Shaikh</dc:creator>
  <cp:lastModifiedBy>Aman Shaikh</cp:lastModifiedBy>
  <cp:revision>23</cp:revision>
  <dcterms:created xsi:type="dcterms:W3CDTF">2026-01-22T05:43:00Z</dcterms:created>
  <dcterms:modified xsi:type="dcterms:W3CDTF">2026-05-26T19:01:39Z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B1A738077D2A4C33AE2D64EF61F2C32F_12</vt:lpwstr>
  </property>
  <property fmtid="{D5CDD505-2E9C-101B-9397-08002B2CF9AE}" pid="3" name="KSOProductBuildVer">
    <vt:lpwstr>1033-12.1.0.26372</vt:lpwstr>
  </property>
</Properties>
</file>